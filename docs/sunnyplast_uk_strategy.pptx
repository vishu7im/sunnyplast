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2D5A8E">
              <a:alpha val="60000"/>
            </a:srgbClr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0"/>
            <a:ext cx="2286000" cy="228600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SUNNYPLAST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20040" y="201168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UK Market Entry Strategy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2697480"/>
            <a:ext cx="5029200" cy="0"/>
          </a:xfrm>
          <a:prstGeom prst="line">
            <a:avLst/>
          </a:prstGeom>
          <a:noFill/>
          <a:ln w="12700">
            <a:solidFill>
              <a:srgbClr val="2D5A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83464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Unknown Entrant  →  Trusted UK Supplier  →  Scalable Brand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45720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Powered by a Complete Digital Growth Engine  |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Real Challenge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Sunnyplast has a strong product — but without infrastructure, the UK market won't know you exist.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743200" cy="3291840"/>
          </a:xfrm>
          <a:prstGeom prst="rect">
            <a:avLst/>
          </a:prstGeom>
          <a:solidFill>
            <a:srgbClr val="1E2D3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6002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600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Brand Recognition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246888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UK fabricators and builders have never heard of Sunnyplast. Liniar and Aluplast have years of trust-building. Without a presence strategy, you're invisible.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743200" cy="3291840"/>
          </a:xfrm>
          <a:prstGeom prst="rect">
            <a:avLst/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6002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600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2194560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487168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Digital Infrastructure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3035808"/>
            <a:ext cx="246888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UK-facing website, no Google Business Profile, no social proof. In 2026, buyers research online before they call. A blank digital footprint = a closed door.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1417320"/>
            <a:ext cx="2743200" cy="3291840"/>
          </a:xfrm>
          <a:prstGeom prst="rect">
            <a:avLst/>
          </a:prstGeom>
          <a:solidFill>
            <a:srgbClr val="1E2D3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417320"/>
            <a:ext cx="27432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160020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1600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2194560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2487168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Fabricator Relationships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3035808"/>
            <a:ext cx="246888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UK window market runs on fabricator loyalty. Switching suppliers carries tooling and compliance costs. Without relationships, even a better product sits on the shelf.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48006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That's exactly what this engagement is built to solve  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UK Market Opportunity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UK PVC window &amp; door market is large, growing, and open to quality-certified new entrants.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192024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554480"/>
            <a:ext cx="170078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£2.3B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75488" y="2267712"/>
            <a:ext cx="170078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market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 (2025)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141732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417320"/>
            <a:ext cx="19202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4328" y="1554480"/>
            <a:ext cx="170078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624328" y="2267712"/>
            <a:ext cx="170078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UK windows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 uPVC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417320"/>
            <a:ext cx="1920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554480"/>
            <a:ext cx="170078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773168" y="2267712"/>
            <a:ext cx="170078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units installed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year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12280" y="141732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1417320"/>
            <a:ext cx="1920240" cy="64008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2008" y="1554480"/>
            <a:ext cx="170078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5A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~3,000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922008" y="2267712"/>
            <a:ext cx="170078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glazing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businesses in UK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337560"/>
            <a:ext cx="841248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747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Projected to Reach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74904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£3.5 Billion by 2030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4389120" y="3429000"/>
            <a:ext cx="0" cy="1188720"/>
          </a:xfrm>
          <a:prstGeom prst="line">
            <a:avLst/>
          </a:prstGeom>
          <a:noFill/>
          <a:ln w="12700">
            <a:solidFill>
              <a:srgbClr val="2D5A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47472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~5% CAGR through 2030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3822192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Retrofits dominate (3:1 ratio)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4169664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15–25% cost advantage for EU producers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FF7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32604"/>
            <a:ext cx="85953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Sources:  </a:t>
            </a:r>
            <a:r>
              <a:rPr lang="en-US" sz="900" u="sng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sheerwaterglass.co.uk – Glazing Industry Statistics 2025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|   </a:t>
            </a:r>
            <a:r>
              <a:rPr lang="en-US" sz="900" u="sng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6wresearch.com – UK Windows &amp; Doors Market 2025–2031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|   </a:t>
            </a:r>
            <a:r>
              <a:rPr lang="en-US" sz="900" u="sng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glazingtoday.com – Market Prediction Report 2026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|   </a:t>
            </a:r>
            <a:r>
              <a:rPr lang="en-US" sz="900" u="sng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straitsresearch.com – PVC Window Profiles Market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UK? Why Now?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77824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powerful tailwinds are opening the door for a new, price-competitive entrant.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73152" cy="1600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66928" y="20299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homes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1554480"/>
            <a:ext cx="0" cy="11430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5087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UK Housing Targets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1810512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UK government target by 2029. Every new build needs windows &amp; doors — creating a sustained demand surge for profile suppliers.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371600"/>
            <a:ext cx="73152" cy="160020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1481328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5A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93%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910328" y="20299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5A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double glazed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1554480"/>
            <a:ext cx="0" cy="11430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5087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Retrofit Demand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1810512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Nearly all UK homes already have double glazing — meaning the market is driven by replacement cycles, not new adoption. Retrofits = repeat B2B revenue.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154680"/>
            <a:ext cx="73152" cy="1600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264408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66928" y="381304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 scheme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31720" y="3337560"/>
            <a:ext cx="0" cy="11430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32918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Energy Efficiency Push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14600" y="3593592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UK Government's ECO4 energy efficiency scheme is driving mandatory window upgrades in millions of social and private homes through 2026.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15468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154680"/>
            <a:ext cx="73152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3264408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15–25%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4910328" y="381304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 gap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75120" y="3337560"/>
            <a:ext cx="0" cy="11430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32918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 Pressure on Fabricators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3593592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Smaller fabricators are squeezed between rising material costs and stagnant sell prices. A CE-certified EU profile at 15–25% less is a genuine lifeline.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FF7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32604"/>
            <a:ext cx="85953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Sources:  </a:t>
            </a:r>
            <a:r>
              <a:rPr lang="en-US" sz="900" u="sng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UK Gov: 1.5M homes target – gov.uk housing delivery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|   </a:t>
            </a:r>
            <a:r>
              <a:rPr lang="en-US" sz="900" u="sng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sheerwaterglass.co.uk – 93% double glazing penetration stat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|   </a:t>
            </a:r>
            <a:r>
              <a:rPr lang="en-US" sz="900" u="sng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gov.uk – ECO4 Energy Efficiency Scheme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Competitor Profile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Aluplast  —  Premium German Engineering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18488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IDEAL 70, IDEAL 4000, IDEAL Neo systems. Windows, doors, SmartSlide patio. 40 foil finishes. U-values down to 0.7 W/m²K.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68880"/>
            <a:ext cx="73152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60320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UK Presence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852928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Dedicated UK subsidiary in Gloucestershire. Own sales, technical &amp; distribution teams covering UK + Ireland.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703320"/>
            <a:ext cx="73152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94760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Strength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4087368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7-year social housing contract (Tai Tarian). Premium positioning: 'The Designer Difference'.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402336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3716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a Glance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17830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 Founded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178308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1982 (Germany)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176272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 Positioning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9400" y="217627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Premium / Designer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569464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 UK HQ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2569464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Gloucestershire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962656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 Coverage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29400" y="2962656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UK + Republic of Ireland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355848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 Digital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29400" y="335584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aluplast.co.uk + LinkedIn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74904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 FIT Show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9400" y="374904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exhibitor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4142232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 Investment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29400" y="414223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€50M+ new EU facility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FF7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32604"/>
            <a:ext cx="85953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Sources:  </a:t>
            </a:r>
            <a:r>
              <a:rPr lang="en-US" sz="900" u="sng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aluplast.co.uk/products – Product range &amp; UK presence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|   </a:t>
            </a:r>
            <a:r>
              <a:rPr lang="en-US" sz="900" u="sng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aluplast.co.uk/news – Tai Tarian contract &amp; team updates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|   </a:t>
            </a:r>
            <a:r>
              <a:rPr lang="en-US" sz="900" u="sng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aluplast.net/uk – Global parent company data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Competitor Profile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Liniar  —  The British Champion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18488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70mm &amp; 90mm casement windows, flush sash (Resurgence), bi-fold doors, conservatory roofs, full outdoor range (decking, fencing, cladding).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68880"/>
            <a:ext cx="73152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60320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Distribution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852928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85+ fabricators within 13 months of launch. 'Approved Fabricator' programme. 99.4% on-time delivery. Postcode supplier finder online.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703320"/>
            <a:ext cx="73152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94760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Brand &amp; Awards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4087368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Queen's Award for Enterprise (Innovation 2017). NFA PVCu Systems Company of the Year 2024. £100M+ turnover, 650+ employees.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4023360" cy="35204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3716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a Glance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17830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 Origin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178308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British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176272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 HQ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9400" y="217627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Derbyshire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569464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 Employees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2569464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650+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962656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 Turnover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29400" y="2962656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£100M+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355848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 Fabricators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29400" y="335584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85+ network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74904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 Delivery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9400" y="374904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99.4% on-time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4142232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 Parent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29400" y="414223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Quanex (US-listed)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FF7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32604"/>
            <a:ext cx="85953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Sources:  </a:t>
            </a:r>
            <a:r>
              <a:rPr lang="en-US" sz="900" u="sng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liniar.co.uk – Product range, fabricator network &amp; delivery KPIs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|   </a:t>
            </a:r>
            <a:r>
              <a:rPr lang="en-US" sz="900" u="sng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liniar.co.uk/about/awards – Queen's Award &amp; NFA wins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|   </a:t>
            </a:r>
            <a:r>
              <a:rPr lang="en-US" sz="900" u="sng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open.endole.co.uk – Liniar Ltd company financials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Sunnyplast Fits  —  The Gap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69164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960120"/>
            <a:ext cx="210312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96012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Aluplast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960120"/>
            <a:ext cx="192024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9601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Liniar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960120"/>
            <a:ext cx="24688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9601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Sunnyplast Opportunity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417320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17320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94560" y="1417320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1417320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German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1417320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417320"/>
            <a:ext cx="1783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British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246888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417320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Romanian (EU)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1892808"/>
            <a:ext cx="16916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892808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94560" y="1892808"/>
            <a:ext cx="210312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1892808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Premium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1892808"/>
            <a:ext cx="19202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1892808"/>
            <a:ext cx="1783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Mid-Premium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1892808"/>
            <a:ext cx="246888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1892808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Competitive Value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368296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368296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Fabricators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94560" y="2368296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2368296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Selective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2368296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2368296"/>
            <a:ext cx="1783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85+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92240" y="2368296"/>
            <a:ext cx="246888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2368296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(0 → ?)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2843784"/>
            <a:ext cx="16916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843784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Certifications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194560" y="2843784"/>
            <a:ext cx="210312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0" y="2843784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EU Compliant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2843784"/>
            <a:ext cx="19202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26280" y="2843784"/>
            <a:ext cx="1783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PAS24 + Queen's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92240" y="2843784"/>
            <a:ext cx="246888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2843784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 + ISO (UK TBD)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3319272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31927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Presence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194560" y="3319272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0" y="3319272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434840" y="3319272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26280" y="3319272"/>
            <a:ext cx="1783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92240" y="3319272"/>
            <a:ext cx="246888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3319272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Minimal → Invest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" y="3794760"/>
            <a:ext cx="16916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3794760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FIT Show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194560" y="3794760"/>
            <a:ext cx="210312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0" y="3794760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 Active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434840" y="3794760"/>
            <a:ext cx="19202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26280" y="3794760"/>
            <a:ext cx="1783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 Active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492240" y="3794760"/>
            <a:ext cx="246888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83680" y="3794760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Confirmed 2027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65760" y="4270248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270248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 Advantage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194560" y="4270248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286000" y="4270248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434840" y="427024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26280" y="4270248"/>
            <a:ext cx="1783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492240" y="4270248"/>
            <a:ext cx="246888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83680" y="4270248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15–25% vs rivals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FF7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4832604"/>
            <a:ext cx="85953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Sources:  </a:t>
            </a:r>
            <a:r>
              <a:rPr lang="en-US" sz="900" u="sng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fitshow.co.uk – Sunnyplast confirmed FIT Show 2027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|   </a:t>
            </a:r>
            <a:r>
              <a:rPr lang="en-US" sz="900" u="sng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sunnyplast.eu – Company profile &amp; certifications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|   </a:t>
            </a:r>
            <a:r>
              <a:rPr lang="en-US" sz="900" u="sng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aluplast.co.uk – Competitor positioning data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|   </a:t>
            </a:r>
            <a:r>
              <a:rPr lang="en-US" sz="900" u="sng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liniar.co.uk – Competitor pricing &amp; network data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Sunnyplast's Competitive Edge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reasons Sunnyplast can win where others are too expensive, too slow, or too rigid.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69080" cy="1645920"/>
          </a:xfrm>
          <a:prstGeom prst="rect">
            <a:avLst/>
          </a:prstGeom>
          <a:solidFill>
            <a:srgbClr val="1E3A5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0690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527048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5270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490472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15–25% Price Advantage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61288" y="183794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 German rivals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221992"/>
            <a:ext cx="3749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Romanian EU production costs significantly undercut Aluplast and Rehau pricing on equivalent multi-chamber profiles — without sacrificing CE or ISO certification.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325880"/>
            <a:ext cx="4069080" cy="1645920"/>
          </a:xfrm>
          <a:prstGeom prst="rect">
            <a:avLst/>
          </a:prstGeom>
          <a:solidFill>
            <a:srgbClr val="1E3A5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325880"/>
            <a:ext cx="40690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3752" y="1527048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5270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04688" y="1490472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UK Tariff Barrier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04688" y="183794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EU → UK under TCA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73752" y="2221992"/>
            <a:ext cx="3749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Romania is an EU member state. Under the UK–EU Trade and Cooperation Agreement (TCA), Sunnyplast exports to UK with zero tariffs — provided rules of origin are met.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4069080" cy="1645920"/>
          </a:xfrm>
          <a:prstGeom prst="rect">
            <a:avLst/>
          </a:prstGeom>
          <a:solidFill>
            <a:srgbClr val="1E3A56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154680"/>
            <a:ext cx="406908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355848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3558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61288" y="3319272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UK-Ready Certifications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61288" y="366674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 + ISO compliant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" y="4050792"/>
            <a:ext cx="3749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 marking and ISO quality certifications are prerequisites for UK fabricators. Sunnyplast already holds these — removing the biggest compliance barrier for buyers.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154680"/>
            <a:ext cx="4069080" cy="1645920"/>
          </a:xfrm>
          <a:prstGeom prst="rect">
            <a:avLst/>
          </a:prstGeom>
          <a:solidFill>
            <a:srgbClr val="1E3A5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154680"/>
            <a:ext cx="40690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73752" y="335584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33558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04688" y="3319272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FIT Show 2027 Confirmed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504688" y="366674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 UK market access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73752" y="4050792"/>
            <a:ext cx="3749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Sunnyplast is already listed as a confirmed exhibitor at FIT Show 2027 — the UK's largest window industry trade event. This is the fastest route to fabricator relationships.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D47"/>
          </a:solidFill>
          <a:ln w="12700">
            <a:solidFill>
              <a:srgbClr val="162D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32604"/>
            <a:ext cx="85953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Sources:  </a:t>
            </a:r>
            <a:r>
              <a:rPr lang="en-US" sz="900" u="sng" dirty="0">
                <a:solidFill>
                  <a:srgbClr val="7EB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fitshow.co.uk – Sunnyplast FIT Show 2027 listing</a:t>
            </a:r>
            <a:r>
              <a:rPr lang="en-US" sz="900" dirty="0">
                <a:solidFill>
                  <a:srgbClr val="4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|   </a:t>
            </a:r>
            <a:r>
              <a:rPr lang="en-US" sz="900" u="sng" dirty="0">
                <a:solidFill>
                  <a:srgbClr val="7EB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sunnyplast.eu – CE &amp; ISO certification details</a:t>
            </a:r>
            <a:r>
              <a:rPr lang="en-US" sz="900" dirty="0">
                <a:solidFill>
                  <a:srgbClr val="4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|   </a:t>
            </a:r>
            <a:r>
              <a:rPr lang="en-US" sz="900" u="sng" dirty="0">
                <a:solidFill>
                  <a:srgbClr val="7EB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gov.uk – UK-EU Trade and Cooperation Agreement (TCA)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Complete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Growth Engine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" y="1920240"/>
            <a:ext cx="1325880" cy="2468880"/>
          </a:xfrm>
          <a:prstGeom prst="rect">
            <a:avLst/>
          </a:prstGeom>
          <a:solidFill>
            <a:srgbClr val="2D5A8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920240"/>
            <a:ext cx="132588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210312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" y="2697480"/>
            <a:ext cx="117957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Maps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Presence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27632" y="2926080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755648" y="1920240"/>
            <a:ext cx="1325880" cy="2468880"/>
          </a:xfrm>
          <a:prstGeom prst="rect">
            <a:avLst/>
          </a:prstGeom>
          <a:solidFill>
            <a:srgbClr val="2D5A8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55648" y="1920240"/>
            <a:ext cx="13258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21031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2697480"/>
            <a:ext cx="117957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Prospecting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63240" y="2926080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91256" y="1920240"/>
            <a:ext cx="1325880" cy="2468880"/>
          </a:xfrm>
          <a:prstGeom prst="rect">
            <a:avLst/>
          </a:prstGeom>
          <a:solidFill>
            <a:srgbClr val="2D5A8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91256" y="1920240"/>
            <a:ext cx="13258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30168" y="21031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0168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64408" y="2697480"/>
            <a:ext cx="117957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Website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Panel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98848" y="2926080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26864" y="1920240"/>
            <a:ext cx="1325880" cy="2468880"/>
          </a:xfrm>
          <a:prstGeom prst="rect">
            <a:avLst/>
          </a:prstGeom>
          <a:solidFill>
            <a:srgbClr val="2D5A8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1920240"/>
            <a:ext cx="13258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65776" y="210312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65776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00016" y="2697480"/>
            <a:ext cx="117957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Agent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WhatsApp + Web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34456" y="2926080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062472" y="1920240"/>
            <a:ext cx="1325880" cy="2468880"/>
          </a:xfrm>
          <a:prstGeom prst="rect">
            <a:avLst/>
          </a:prstGeom>
          <a:solidFill>
            <a:srgbClr val="2D5A8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62472" y="1920240"/>
            <a:ext cx="13258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01384" y="210312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1384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35624" y="2697480"/>
            <a:ext cx="117957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Calling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70064" y="2926080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498080" y="1920240"/>
            <a:ext cx="1325880" cy="2468880"/>
          </a:xfrm>
          <a:prstGeom prst="rect">
            <a:avLst/>
          </a:prstGeom>
          <a:solidFill>
            <a:srgbClr val="2D5A8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1920240"/>
            <a:ext cx="132588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36992" y="210312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36992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71232" y="2697480"/>
            <a:ext cx="117957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ERP / CRM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0040" y="46177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VISIBILITY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240280" y="46177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 GENERATION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37760" y="461772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CONVERSION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23760" y="46177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22860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Maps &amp; Local Presence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3840480" cy="365760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384048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Not found on Google Maps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Zero local search visibility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No product images online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Builders can't discover you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Trust gap with UK buyers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51960" y="2468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846320" y="868680"/>
            <a:ext cx="3886200" cy="365760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868680"/>
            <a:ext cx="38862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868680"/>
            <a:ext cx="3703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141732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Verified Google Business Profile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192024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Warehouse pinned on Maps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24231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Real product photos uploaded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292608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Reviews collected &amp; managed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342900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Rank in local builder searches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22860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Prospecting Tool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20040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UK builders, hardware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shops scraped &amp; mapped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901952"/>
            <a:ext cx="2651760" cy="73152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4767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249424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Segmented by region,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 &amp; decision-maker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" y="2798064"/>
            <a:ext cx="210312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843784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3145536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Qualified B2B database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auto-updated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7280" y="3694176"/>
            <a:ext cx="1645920" cy="7315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73989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041648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Outreach-ready targets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contact details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0" y="960120"/>
            <a:ext cx="4572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0" y="96012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03327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Manual Research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132588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Auto-identifies builders, window installers &amp; hardware shops across UK regions.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0" y="1965960"/>
            <a:ext cx="4572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0" y="196596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03911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Segmented Database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233172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Filtered by company size, region and buying decision-makers.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0" y="2971800"/>
            <a:ext cx="4572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0" y="297180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044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Pipeline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333756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Steady flow of high-intent B2B prospects, refreshed automatically.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89120" y="3977640"/>
            <a:ext cx="4572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9120" y="397764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405079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Market Entry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0" y="434340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Compress months of prospecting into days — start selling faster.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Prospecting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Outreach  vs  Targeted Pipeline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06908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3886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 WITHOUT Smart Prospecting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406908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64208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Cold calling random directories — 95% irrelevant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406908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No idea which businesses actually buy PVC profiles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724912"/>
            <a:ext cx="406908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24912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Sales team wastes days chasing gatekeepers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255264"/>
            <a:ext cx="406908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55264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No structured pipeline — feast or famine cycle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785616"/>
            <a:ext cx="406908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85616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Low conversion rate on expensive sales time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1170432"/>
            <a:ext cx="406908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70432"/>
            <a:ext cx="3886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 WITH Smart Prospecting Tool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664208"/>
            <a:ext cx="406908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664208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Auto-identifies builders, glaziers &amp; hardware shops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194560"/>
            <a:ext cx="4069080" cy="457200"/>
          </a:xfrm>
          <a:prstGeom prst="rect">
            <a:avLst/>
          </a:prstGeom>
          <a:solidFill>
            <a:srgbClr val="F7FFF9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194560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Database segmented by region, size &amp; decision-maker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2724912"/>
            <a:ext cx="406908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724912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Sales team only talks to qualified, relevant buyers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3255264"/>
            <a:ext cx="4069080" cy="457200"/>
          </a:xfrm>
          <a:prstGeom prst="rect">
            <a:avLst/>
          </a:prstGeom>
          <a:solidFill>
            <a:srgbClr val="F7FFF9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255264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Predictable B2B pipeline — 40–80 leads/month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3785616"/>
            <a:ext cx="406908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785616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Higher conversion — better ROI on every sales hour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33672" y="2395728"/>
            <a:ext cx="658368" cy="65836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33672" y="23957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22860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Website + Admin Panel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5720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22960"/>
            <a:ext cx="45720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914400"/>
            <a:ext cx="137160" cy="1371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91440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914400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896112"/>
            <a:ext cx="34747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896112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www.sunnyplast.co.uk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170432"/>
            <a:ext cx="457200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26187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SUNNYPLAST UK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162763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Premium PVC Profiles for UK Fabricators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59152"/>
            <a:ext cx="1325880" cy="82296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1752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BioFlex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20240" y="2359152"/>
            <a:ext cx="132588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301752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RecoBoard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83280" y="2359152"/>
            <a:ext cx="1325880" cy="82296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01752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ClearCore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438912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Contact / Inquiry Form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19202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51760" y="3703320"/>
            <a:ext cx="19202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66360" y="86868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30368" y="1124712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11247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0" y="9601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Website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0" y="12801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UK-focused design, mobile-ready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66360" y="192024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230368" y="2176272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21762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0" y="20116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Catalogue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69280" y="23317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range with specs, finishes, pricing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66360" y="297180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230368" y="3227832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2278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0" y="30632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Inquiry Flow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669280" y="3383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 capture forms, WhatsApp integration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166360" y="402336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230368" y="4279392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30368" y="427939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69280" y="41148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Panel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669280" y="44348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products, manage enquiries — no dev needed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Communication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missed message is a missed sale. Manual communication doesn't scale.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6052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374B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33272" y="14173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 Response Time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1783080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Leads go cold in minutes. If you don't respond within the hour, competitors will.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416052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374B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6002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00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22392" y="14173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Missed Leads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22392" y="1783080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hours, weekends, holidays — any lead that arrives outside 9–5 is simply lost.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496312"/>
            <a:ext cx="416052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374B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70632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706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33272" y="258775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Inconsistent Replies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33272" y="2953512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 staff give different answers. Buyers lose trust. Brand feels unreliable.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496312"/>
            <a:ext cx="416052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374B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770632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7706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22392" y="258775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Conversation Trail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22392" y="2953512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record of what was promised, discussed or quoted. Follow-ups fall through gaps.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666744"/>
            <a:ext cx="416052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374B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41064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4106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33272" y="3758184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Dependency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33272" y="4123944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sick day or staff turnover can stall your entire pipeline and lead response.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666744"/>
            <a:ext cx="416052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374B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941064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94106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📉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22392" y="3758184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Conversion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22392" y="4123944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A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processes cap how many leads can be handled. Volume = chaos.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8188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solution: an AI agent that never sleeps, never forgets, and always qualifies  →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22860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Agent  —  WhatsApp + Website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4114800" cy="438912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77240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Sunnyplast  |  WhatsApp Business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1325880"/>
            <a:ext cx="2743200" cy="384048"/>
          </a:xfrm>
          <a:prstGeom prst="rect">
            <a:avLst/>
          </a:prstGeom>
          <a:solidFill>
            <a:srgbClr val="DCF8C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353312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Hi, do you supply 70mm casement profiles?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56232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Yes! We stock IDEAL-equivalent 70mm multi-chamber profiles. Want specs or a quote?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97280" y="2331720"/>
            <a:ext cx="2743200" cy="384048"/>
          </a:xfrm>
          <a:prstGeom prst="rect">
            <a:avLst/>
          </a:prstGeom>
          <a:solidFill>
            <a:srgbClr val="DCF8C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359152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Quote please — need 200m for a project in Manchester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62072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Great! I'll connect you with our sales team. Can I take your name &amp; email?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97280" y="3337560"/>
            <a:ext cx="2743200" cy="384048"/>
          </a:xfrm>
          <a:prstGeom prst="rect">
            <a:avLst/>
          </a:prstGeom>
          <a:solidFill>
            <a:srgbClr val="DCF8C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364992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John Smith — j.smith@glaze.co.uk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67912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Thanks John! A quote will reach you within 2 hours. Shall I also book a call?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82296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822960"/>
            <a:ext cx="416052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96012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24/7 Availability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00600" y="1280160"/>
            <a:ext cx="3794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missed leads — agent handles queries any time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847088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847088"/>
            <a:ext cx="416052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984248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Suggestions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2304288"/>
            <a:ext cx="3794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recommends matching profiles based on spec input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871216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871216"/>
            <a:ext cx="41605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008376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 Capture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00600" y="3328416"/>
            <a:ext cx="3794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Collects name, email, requirement before handing off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895344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895344"/>
            <a:ext cx="41605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032504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WhatsApp + Web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00600" y="4352544"/>
            <a:ext cx="3794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AI agent on both channels, unified lead view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Agent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Serious Buyers Reach Your Sales Team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474720" cy="594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34440"/>
            <a:ext cx="2971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WEBSITE &amp;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WHATSAPP VISITORS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91840" y="1261872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2834640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965960"/>
            <a:ext cx="2331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ENGAGED WITH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AGENT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71800" y="1993392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2194560" cy="59436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697480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INTEREST SHOWN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51760" y="2724912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34440" y="3383280"/>
            <a:ext cx="1554480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3429000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QUALIFIED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31720" y="3456432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08760" y="4114800"/>
            <a:ext cx="100584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81912" y="4160520"/>
            <a:ext cx="502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 TO YOUR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TEAM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57400" y="4187952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773168"/>
            <a:ext cx="411480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77316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your team only speaks to people ready to buy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1078992"/>
            <a:ext cx="3977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AI Does at Each Stage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1463040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1463040"/>
            <a:ext cx="64008" cy="594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15087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10912" y="175564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Greets visitor, asks what they're looking for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2176272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176272"/>
            <a:ext cx="64008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2221992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10912" y="24688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 relevant products, answers spec questions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88950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889504"/>
            <a:ext cx="64008" cy="59436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2935224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A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Interest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10912" y="318211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Asks about project type, quantity, timeline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46320" y="3602736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602736"/>
            <a:ext cx="64008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3648456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Qualification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10912" y="3895344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Filters window shoppers — only captures serious intent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4315968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4315968"/>
            <a:ext cx="64008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10912" y="436168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Handoff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10912" y="460857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Passes name, email, requirement to sales team instantly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22860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Calling Agent  —  Never Miss a Lead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508760" cy="1645920"/>
          </a:xfrm>
          <a:prstGeom prst="rect">
            <a:avLst/>
          </a:prstGeom>
          <a:solidFill>
            <a:srgbClr val="FAFAF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150876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097280"/>
            <a:ext cx="457200" cy="4572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097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" y="1664208"/>
            <a:ext cx="1371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 Enters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1600200"/>
            <a:ext cx="182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57400" y="960120"/>
            <a:ext cx="1508760" cy="1645920"/>
          </a:xfrm>
          <a:prstGeom prst="rect">
            <a:avLst/>
          </a:prstGeom>
          <a:solidFill>
            <a:srgbClr val="FAFAF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960120"/>
            <a:ext cx="15087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87752" y="109728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87752" y="1097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30552" y="1664208"/>
            <a:ext cx="1371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Calls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Automatically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1600200"/>
            <a:ext cx="182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49040" y="960120"/>
            <a:ext cx="1508760" cy="1645920"/>
          </a:xfrm>
          <a:prstGeom prst="rect">
            <a:avLst/>
          </a:prstGeom>
          <a:solidFill>
            <a:srgbClr val="FAFAF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960120"/>
            <a:ext cx="15087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79392" y="109728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9392" y="1097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22192" y="1664208"/>
            <a:ext cx="1371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Qualifies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Probes Need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1600200"/>
            <a:ext cx="182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40680" y="960120"/>
            <a:ext cx="1508760" cy="1645920"/>
          </a:xfrm>
          <a:prstGeom prst="rect">
            <a:avLst/>
          </a:prstGeom>
          <a:solidFill>
            <a:srgbClr val="FAFAF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40680" y="960120"/>
            <a:ext cx="15087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71032" y="109728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71032" y="1097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13832" y="1664208"/>
            <a:ext cx="1371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Books Meeting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 Quote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1600200"/>
            <a:ext cx="182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132320" y="960120"/>
            <a:ext cx="1508760" cy="1645920"/>
          </a:xfrm>
          <a:prstGeom prst="rect">
            <a:avLst/>
          </a:prstGeom>
          <a:solidFill>
            <a:srgbClr val="FAFAF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0" y="960120"/>
            <a:ext cx="1508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62672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62672" y="1097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05472" y="1664208"/>
            <a:ext cx="1371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Closes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Handoff to Rep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2880360"/>
            <a:ext cx="1965960" cy="1737360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2971800"/>
            <a:ext cx="1737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3x</a:t>
            </a:r>
            <a:endParaRPr lang="en-US" sz="4200" dirty="0"/>
          </a:p>
        </p:txBody>
      </p:sp>
      <p:sp>
        <p:nvSpPr>
          <p:cNvPr id="37" name="Text 35"/>
          <p:cNvSpPr/>
          <p:nvPr/>
        </p:nvSpPr>
        <p:spPr>
          <a:xfrm>
            <a:off x="475488" y="3767328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follow-up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 manual teams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14600" y="2880360"/>
            <a:ext cx="1965960" cy="1737360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24328" y="2971800"/>
            <a:ext cx="1737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4200" dirty="0"/>
          </a:p>
        </p:txBody>
      </p:sp>
      <p:sp>
        <p:nvSpPr>
          <p:cNvPr id="40" name="Text 38"/>
          <p:cNvSpPr/>
          <p:nvPr/>
        </p:nvSpPr>
        <p:spPr>
          <a:xfrm>
            <a:off x="2624328" y="3767328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conversion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 on outbound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2880360"/>
            <a:ext cx="1965960" cy="1737360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2971800"/>
            <a:ext cx="1737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4200" dirty="0"/>
          </a:p>
        </p:txBody>
      </p:sp>
      <p:sp>
        <p:nvSpPr>
          <p:cNvPr id="43" name="Text 41"/>
          <p:cNvSpPr/>
          <p:nvPr/>
        </p:nvSpPr>
        <p:spPr>
          <a:xfrm>
            <a:off x="4773168" y="3767328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Reduction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headcount cost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12280" y="2880360"/>
            <a:ext cx="1965960" cy="1737360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22008" y="2971800"/>
            <a:ext cx="1737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24/7</a:t>
            </a:r>
            <a:endParaRPr lang="en-US" sz="4200" dirty="0"/>
          </a:p>
        </p:txBody>
      </p:sp>
      <p:sp>
        <p:nvSpPr>
          <p:cNvPr id="46" name="Text 44"/>
          <p:cNvSpPr/>
          <p:nvPr/>
        </p:nvSpPr>
        <p:spPr>
          <a:xfrm>
            <a:off x="6922008" y="3767328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Calling window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limited by hours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Calling Agent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Calling  vs  AI Calling Agent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9319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 Manual Calling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09344"/>
            <a:ext cx="393192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9344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 calls/day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14600" y="1609344"/>
            <a:ext cx="1600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30–50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084832"/>
            <a:ext cx="393192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84832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Follow-up speed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14600" y="2084832"/>
            <a:ext cx="1600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Hours/days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560320"/>
            <a:ext cx="393192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60320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hours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14600" y="2560320"/>
            <a:ext cx="1600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9am–5pm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035808"/>
            <a:ext cx="393192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35808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Consistency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14600" y="3035808"/>
            <a:ext cx="1600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511296"/>
            <a:ext cx="393192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11296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Scalability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514600" y="3511296"/>
            <a:ext cx="1600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Hire more staff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986784"/>
            <a:ext cx="393192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86784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Conversion rate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14600" y="3986784"/>
            <a:ext cx="1600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~8–12%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33672" y="2606040"/>
            <a:ext cx="658368" cy="65836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33672" y="260604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1143000"/>
            <a:ext cx="393192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14300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 AI Calling Agent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1609344"/>
            <a:ext cx="3931920" cy="402336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1609344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 calls/day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086600" y="1609344"/>
            <a:ext cx="1600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500–1,000+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92040" y="2084832"/>
            <a:ext cx="3931920" cy="402336"/>
          </a:xfrm>
          <a:prstGeom prst="rect">
            <a:avLst/>
          </a:prstGeom>
          <a:solidFill>
            <a:srgbClr val="FAF8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084832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Follow-up speed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086600" y="2084832"/>
            <a:ext cx="1600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92040" y="2560320"/>
            <a:ext cx="3931920" cy="402336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2560320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hours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086600" y="2560320"/>
            <a:ext cx="1600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 / 7 / 365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892040" y="3035808"/>
            <a:ext cx="3931920" cy="402336"/>
          </a:xfrm>
          <a:prstGeom prst="rect">
            <a:avLst/>
          </a:prstGeom>
          <a:solidFill>
            <a:srgbClr val="FAF8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3035808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Consistency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086600" y="3035808"/>
            <a:ext cx="1600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scripted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892040" y="3511296"/>
            <a:ext cx="3931920" cy="402336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3511296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Scalability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086600" y="3511296"/>
            <a:ext cx="1600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scale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892040" y="3986784"/>
            <a:ext cx="3931920" cy="402336"/>
          </a:xfrm>
          <a:prstGeom prst="rect">
            <a:avLst/>
          </a:prstGeom>
          <a:solidFill>
            <a:srgbClr val="FAF8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3986784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Conversion rate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086600" y="3986784"/>
            <a:ext cx="1600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~25–35%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320040" y="45720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Conversion Rate Improvement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4828032"/>
            <a:ext cx="118872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554480" y="4828032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 8–12%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92040" y="4572000"/>
            <a:ext cx="3657600" cy="22860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457200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2–3x more deals closed with the same (or fewer) leads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22860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ERP / CRM System  —  Operations Hub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278892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430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8408" y="114300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Invoice Management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2514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Auto-generate &amp; track invoices, payment status, VAT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9601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960120"/>
            <a:ext cx="2788920" cy="64008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143000"/>
            <a:ext cx="411480" cy="411480"/>
          </a:xfrm>
          <a:prstGeom prst="ellipse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1430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04488" y="114300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Tracking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1691640"/>
            <a:ext cx="2514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status from order to delivery confirmation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9601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960120"/>
            <a:ext cx="2788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1430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1430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30568" y="114300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Purchase Flow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1691640"/>
            <a:ext cx="2514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supplier POs, stock levels, reorder alerts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97180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971800"/>
            <a:ext cx="27889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15468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1546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■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315468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Database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3703320"/>
            <a:ext cx="2514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CRM — contacts, history, follow-up tasks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46120" y="297180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2971800"/>
            <a:ext cx="27889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3280" y="3154680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1546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■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904488" y="315468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83280" y="3703320"/>
            <a:ext cx="2514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KPIs, conversion rates, revenue by region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297180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2971800"/>
            <a:ext cx="27889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315468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1546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■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30568" y="315468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Catalogue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09360" y="3703320"/>
            <a:ext cx="2514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Synced to website — one update, everywhere live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ERP + CRM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8496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Scattered Operations  vs  Centralized Control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441450"/>
            <a:ext cx="39319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145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 Without ERP / CRM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7794"/>
            <a:ext cx="393192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07794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Invoicing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907794"/>
            <a:ext cx="2606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spreadsheets — errors &amp; delays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383282"/>
            <a:ext cx="393192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83282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2383282"/>
            <a:ext cx="2606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real-time status — customers kept waiting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858770"/>
            <a:ext cx="393192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58770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2858770"/>
            <a:ext cx="2606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Overstock or stockouts — cash flow problems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334258"/>
            <a:ext cx="393192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34258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08760" y="3334258"/>
            <a:ext cx="2606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Contacts scattered across phones &amp; emails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809746"/>
            <a:ext cx="393192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09746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08760" y="3809746"/>
            <a:ext cx="2606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visibility into what's selling or why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285234"/>
            <a:ext cx="393192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85234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08760" y="4285234"/>
            <a:ext cx="2606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one fabricator — add 10x admin work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33672" y="2904490"/>
            <a:ext cx="658368" cy="65836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33672" y="290449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1441450"/>
            <a:ext cx="39319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44145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 With ERP + CRM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1907794"/>
            <a:ext cx="393192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1907794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Invoicing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80760" y="1907794"/>
            <a:ext cx="2606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Auto-generated, tracked, VAT-ready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2383282"/>
            <a:ext cx="3931920" cy="402336"/>
          </a:xfrm>
          <a:prstGeom prst="rect">
            <a:avLst/>
          </a:prstGeom>
          <a:solidFill>
            <a:srgbClr val="F7FFF9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383282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80760" y="2383282"/>
            <a:ext cx="2606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tracking from order to delivery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2858770"/>
            <a:ext cx="393192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2858770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Stock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80760" y="2858770"/>
            <a:ext cx="2606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Reorder alerts — always right stock levels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3334258"/>
            <a:ext cx="3931920" cy="402336"/>
          </a:xfrm>
          <a:prstGeom prst="rect">
            <a:avLst/>
          </a:prstGeom>
          <a:solidFill>
            <a:srgbClr val="F7FFF9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3334258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80760" y="3334258"/>
            <a:ext cx="2606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CRM — history, tasks, follow-ups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92040" y="3809746"/>
            <a:ext cx="393192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3809746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80760" y="3809746"/>
            <a:ext cx="2606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dashboard — revenue, conversion, KPIs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92040" y="4285234"/>
            <a:ext cx="3931920" cy="402336"/>
          </a:xfrm>
          <a:prstGeom prst="rect">
            <a:avLst/>
          </a:prstGeom>
          <a:solidFill>
            <a:srgbClr val="F7FFF9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4285234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080760" y="4285234"/>
            <a:ext cx="2606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10 fabricators — same admin effort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Growth Journey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invisible to indispensable — a complete transformation roadmap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7863840" cy="0"/>
          </a:xfrm>
          <a:prstGeom prst="line">
            <a:avLst/>
          </a:prstGeom>
          <a:noFill/>
          <a:ln w="38100">
            <a:solidFill>
              <a:srgbClr val="2D5A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029968"/>
            <a:ext cx="329184" cy="32918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1371600"/>
            <a:ext cx="0" cy="658368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Maps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Local SEO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202996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0632" y="1371600"/>
            <a:ext cx="0" cy="65836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9144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4688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Prospecting Tool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Website Live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51960" y="202996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16552" y="1371600"/>
            <a:ext cx="0" cy="658368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9144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24688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Agent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Calling Bot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97880" y="202996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62472" y="1371600"/>
            <a:ext cx="0" cy="658368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9144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24688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ERP + CRM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Live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43800" y="2029968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08392" y="1371600"/>
            <a:ext cx="0" cy="658368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9144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0" y="24688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Fabricator Network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UK-wide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246120"/>
            <a:ext cx="2651760" cy="1554480"/>
          </a:xfrm>
          <a:prstGeom prst="rect">
            <a:avLst/>
          </a:prstGeom>
          <a:solidFill>
            <a:srgbClr val="2D5A8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246120"/>
            <a:ext cx="26517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337560"/>
            <a:ext cx="237744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 1–2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Wins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154680" y="3246120"/>
            <a:ext cx="2651760" cy="1554480"/>
          </a:xfrm>
          <a:prstGeom prst="rect">
            <a:avLst/>
          </a:prstGeom>
          <a:solidFill>
            <a:srgbClr val="2D5A8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54680" y="3246120"/>
            <a:ext cx="2651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337560"/>
            <a:ext cx="237744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 2–4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Growth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989320" y="3246120"/>
            <a:ext cx="2651760" cy="1554480"/>
          </a:xfrm>
          <a:prstGeom prst="rect">
            <a:avLst/>
          </a:prstGeom>
          <a:solidFill>
            <a:srgbClr val="2D5A8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89320" y="3246120"/>
            <a:ext cx="26517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3337560"/>
            <a:ext cx="237744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 4–8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Investment &amp; Expected Returns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77824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Returns compound across three horizons — every system we build feeds the next stage.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788920" cy="3429000"/>
          </a:xfrm>
          <a:prstGeom prst="rect">
            <a:avLst/>
          </a:prstGeom>
          <a:solidFill>
            <a:srgbClr val="FAFB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78892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4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Short-Term  ·  Month 1–3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Visibility &amp; Leads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Build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Google Maps + local SEO live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Website &amp; product catalogue up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82112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Prospecting database: 500+ leads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2514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3931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95020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Increased visibility in UK searches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27024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Initial inbound enquiry flow starts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59028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Faster response time — no missed leads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46120" y="1371600"/>
            <a:ext cx="2788920" cy="3429000"/>
          </a:xfrm>
          <a:prstGeom prst="rect">
            <a:avLst/>
          </a:prstGeom>
          <a:solidFill>
            <a:srgbClr val="FAFB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371600"/>
            <a:ext cx="2788920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41732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4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Mid-Term  ·  Month 3–6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164592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Conversion Engine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383280" y="217627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Build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2487168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AI agents on WhatsApp + website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83280" y="283464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AI calling agent running campaigns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83280" y="3182112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First fabricator onboarding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83280" y="3566160"/>
            <a:ext cx="2514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63931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Outcomes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395020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40–80 qualified leads/month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83280" y="427024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Consistent dealer pipeline built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83280" y="459028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Conversion rate up 2–3x vs manual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1371600"/>
            <a:ext cx="2788920" cy="3429000"/>
          </a:xfrm>
          <a:prstGeom prst="rect">
            <a:avLst/>
          </a:prstGeom>
          <a:solidFill>
            <a:srgbClr val="FAFB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1371600"/>
            <a:ext cx="278892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141732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4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Long-Term  ·  Month 6–12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164592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Brand &amp; Scale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309360" y="217627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Build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2487168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ERP + CRM fully operational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09360" y="283464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FIT Show 2027 presence confirmed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09360" y="3182112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Ongoing optimisation &amp; analytics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09360" y="3566160"/>
            <a:ext cx="2514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363931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Outcomes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395020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Brand established in UK market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09360" y="427024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Automated sales engine running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309360" y="459028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Scalable ops — higher revenue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832604"/>
            <a:ext cx="84124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outcome by Month 8:  3–8 active UK fabricators  ·  40–80 qualified leads/month  ·  Full operational ERP in place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Sunnyplast Gains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 transformation — not just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1730"/>
            <a:ext cx="4023360" cy="12153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1730"/>
            <a:ext cx="40233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605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605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251458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UK Market Entry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161721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presence, leads and sales infrastructure in 90 days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141730"/>
            <a:ext cx="4023360" cy="122047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41730"/>
            <a:ext cx="402336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41605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41605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22392" y="1251458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+ Offline Presence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22392" y="161721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Maps, website, WhatsApp, calling — every touchpoint covered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650490"/>
            <a:ext cx="4023360" cy="114871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50490"/>
            <a:ext cx="40233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92481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2481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78992" y="2760218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Lead Generation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312597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Prospecting tool + AI agents replace manual sales effort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2650490"/>
            <a:ext cx="4023360" cy="116141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650490"/>
            <a:ext cx="40233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92481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92481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22392" y="2760218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Conversion Rates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22392" y="312597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handles follow-up 24/7 — no lead goes cold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31720" y="4038600"/>
            <a:ext cx="4023360" cy="979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331720" y="3956050"/>
            <a:ext cx="402336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4230370"/>
            <a:ext cx="457200" cy="4572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423037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044952" y="4065778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Scalable Backend Operations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044952" y="443153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ERP + CRM centralises invoices, orders and customers from day one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274320"/>
            <a:ext cx="2743200" cy="2743200"/>
          </a:xfrm>
          <a:prstGeom prst="ellipse">
            <a:avLst/>
          </a:prstGeom>
          <a:solidFill>
            <a:srgbClr val="2D5A8E">
              <a:alpha val="50000"/>
            </a:srgbClr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3017520"/>
            <a:ext cx="2011680" cy="201168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Ready to Enter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68580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UK Market?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20040" y="2103120"/>
            <a:ext cx="5029200" cy="0"/>
          </a:xfrm>
          <a:prstGeom prst="line">
            <a:avLst/>
          </a:prstGeom>
          <a:noFill/>
          <a:ln w="12700">
            <a:solidFill>
              <a:srgbClr val="2D5A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860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  –  Discovery call to align on scope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72491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  –  Google Maps + Website sprint (Week 1–2)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316382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  –  Prospecting tool &amp; AI agent build (Week 3–6)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3602736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4  –  ERP / CRM go-live (Month 2–3)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4251960"/>
            <a:ext cx="2926080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25196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 a Discovery Call 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13858</Words>
  <Application>WPS Presentation</Application>
  <PresentationFormat>On-screen Show (16:9)</PresentationFormat>
  <Paragraphs>1010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Sunnyplast – UK Market Entry Strategy</dc:title>
  <dc:creator>Digital Growth Engine</dc:creator>
  <dc:subject>PptxGenJS Presentation</dc:subject>
  <cp:lastModifiedBy>vishal</cp:lastModifiedBy>
  <cp:revision>2</cp:revision>
  <dcterms:created xsi:type="dcterms:W3CDTF">2026-03-26T21:58:00Z</dcterms:created>
  <dcterms:modified xsi:type="dcterms:W3CDTF">2026-03-26T22:14:50Z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FFEAF3C8FEB3488A9148896BA123A1D0_12</vt:lpwstr>
  </property>
  <property fmtid="{D5CDD505-2E9C-101B-9397-08002B2CF9AE}" pid="3" name="KSOProductBuildVer">
    <vt:lpwstr>1033-12.2.0.23196</vt:lpwstr>
  </property>
</Properties>
</file>